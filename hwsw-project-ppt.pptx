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68" r:id="rId4"/>
    <p:sldId id="266" r:id="rId5"/>
    <p:sldId id="267" r:id="rId6"/>
    <p:sldId id="270" r:id="rId7"/>
    <p:sldId id="271" r:id="rId8"/>
    <p:sldId id="273" r:id="rId9"/>
    <p:sldId id="272" r:id="rId10"/>
    <p:sldId id="274" r:id="rId11"/>
    <p:sldId id="269" r:id="rId12"/>
    <p:sldId id="275" r:id="rId13"/>
    <p:sldId id="276" r:id="rId14"/>
    <p:sldId id="277" r:id="rId15"/>
    <p:sldId id="278" r:id="rId16"/>
    <p:sldId id="279" r:id="rId17"/>
    <p:sldId id="280" r:id="rId18"/>
    <p:sldId id="28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77" dt="2026-09-19T18:39:53.741"/>
    <p1510:client id="{9C23FBBA-D7A5-9F5D-C606-B88323D13C53}" v="1784" dt="2026-09-21T05:00:39.594"/>
    <p1510:client id="{A92B9453-37BB-E59B-D36C-26352F23F110}" v="1790" dt="2026-09-19T17:53:31.7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technionmail-my.sharepoint.com/personal/michaeli_gal_campus_technion_ac_il/Documents/hwsw-project_ColumnClustered%20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technionmail-my.sharepoint.com/personal/michaeli_gal_campus_technion_ac_il/Documents/hwsw-project_ColumnClustere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Minimum Time</c:v>
                </c:pt>
                <c:pt idx="1">
                  <c:v>Maximum Time</c:v>
                </c:pt>
                <c:pt idx="2">
                  <c:v>Std. Dev.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1C-4C3B-A9EB-3AE70D85D00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Optimized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Minimum Time</c:v>
                </c:pt>
                <c:pt idx="1">
                  <c:v>Maximum Time</c:v>
                </c:pt>
                <c:pt idx="2">
                  <c:v>Std. Dev.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0.66848798869524251</c:v>
                </c:pt>
                <c:pt idx="1">
                  <c:v>0.6686893761779984</c:v>
                </c:pt>
                <c:pt idx="2">
                  <c:v>0.7637795275590552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11C-4C3B-A9EB-3AE70D85D00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Improvement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Minimum Time</c:v>
                </c:pt>
                <c:pt idx="1">
                  <c:v>Maximum Time</c:v>
                </c:pt>
                <c:pt idx="2">
                  <c:v>Std. Dev.</c:v>
                </c:pt>
              </c:strCache>
            </c:strRef>
          </c:cat>
          <c:val>
            <c:numRef>
              <c:f>Sheet1!$D$2:$D$4</c:f>
              <c:numCache>
                <c:formatCode>0.00%</c:formatCode>
                <c:ptCount val="3"/>
                <c:pt idx="0">
                  <c:v>0.33151201130475749</c:v>
                </c:pt>
                <c:pt idx="1">
                  <c:v>0.3313106238220016</c:v>
                </c:pt>
                <c:pt idx="2">
                  <c:v>0.2362204724409448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11C-4C3B-A9EB-3AE70D85D0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70331103"/>
        <c:axId val="1170327263"/>
      </c:barChart>
      <c:catAx>
        <c:axId val="11703311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0327263"/>
        <c:crosses val="autoZero"/>
        <c:auto val="1"/>
        <c:lblAlgn val="ctr"/>
        <c:lblOffset val="100"/>
        <c:noMultiLvlLbl val="0"/>
      </c:catAx>
      <c:valAx>
        <c:axId val="1170327263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0331103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call_function</c:v>
                </c:pt>
                <c:pt idx="1">
                  <c:v>_PyFrame_New_NoTrack</c:v>
                </c:pt>
                <c:pt idx="2">
                  <c:v>frame_dealloc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3.3399999999999999E-2</c:v>
                </c:pt>
                <c:pt idx="1">
                  <c:v>3.2800000000000003E-2</c:v>
                </c:pt>
                <c:pt idx="2">
                  <c:v>3.0599999999999999E-2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54-4505-98FB-C768AA899F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Optimized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call_function</c:v>
                </c:pt>
                <c:pt idx="1">
                  <c:v>_PyFrame_New_NoTrack</c:v>
                </c:pt>
                <c:pt idx="2">
                  <c:v>frame_dealloc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2.7300000000000001E-2</c:v>
                </c:pt>
                <c:pt idx="1">
                  <c:v>1.5800000000000002E-2</c:v>
                </c:pt>
                <c:pt idx="2">
                  <c:v>2.46E-2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54-4505-98FB-C768AA899FA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Improvement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call_function</c:v>
                </c:pt>
                <c:pt idx="1">
                  <c:v>_PyFrame_New_NoTrack</c:v>
                </c:pt>
                <c:pt idx="2">
                  <c:v>frame_dealloc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6.0999999999999978E-3</c:v>
                </c:pt>
                <c:pt idx="1">
                  <c:v>1.7000000000000001E-2</c:v>
                </c:pt>
                <c:pt idx="2">
                  <c:v>5.9999999999999984E-3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6F-48EB-B762-28F9F558A2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71962095"/>
        <c:axId val="1171961615"/>
      </c:barChart>
      <c:catAx>
        <c:axId val="11719620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1961615"/>
        <c:crosses val="autoZero"/>
        <c:auto val="1"/>
        <c:lblAlgn val="ctr"/>
        <c:lblOffset val="100"/>
        <c:noMultiLvlLbl val="0"/>
      </c:catAx>
      <c:valAx>
        <c:axId val="11719616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 Narrow"/>
                <a:ea typeface="Aptos Narrow"/>
                <a:cs typeface="Aptos Narrow"/>
              </a:defRPr>
            </a:pPr>
            <a:endParaRPr lang="en-US"/>
          </a:p>
        </c:txPr>
        <c:crossAx val="11719620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Segoe UI"/>
                <a:cs typeface="Segoe UI"/>
              </a:rPr>
              <a:t>BENCHMARK</a:t>
            </a:r>
            <a:r>
              <a:rPr lang="en-US" dirty="0"/>
              <a:t> OPTIMIZATION, ANALYSIS, AND HARDWARE ACCELERATION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6669A3F-30B2-E0DD-F495-5906EC453111}"/>
              </a:ext>
            </a:extLst>
          </p:cNvPr>
          <p:cNvSpPr txBox="1">
            <a:spLocks/>
          </p:cNvSpPr>
          <p:nvPr/>
        </p:nvSpPr>
        <p:spPr>
          <a:xfrm>
            <a:off x="1520328" y="5370245"/>
            <a:ext cx="9144000" cy="489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Segoe UI"/>
                <a:cs typeface="Segoe UI"/>
              </a:rPr>
              <a:t>Lavie Lederman &amp; Gal Michaeli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E302CB60-44BF-4D65-74C7-D0829CB384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2375"/>
            <a:ext cx="9144000" cy="104983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600" dirty="0">
                <a:latin typeface="Segoe UI"/>
                <a:cs typeface="Segoe UI"/>
              </a:rPr>
              <a:t>Final Project</a:t>
            </a:r>
          </a:p>
          <a:p>
            <a:r>
              <a:rPr lang="en-US" sz="3200" dirty="0">
                <a:latin typeface="Segoe UI"/>
                <a:cs typeface="Segoe UI"/>
              </a:rPr>
              <a:t>00460882 HWSW Co-Design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379F6-3915-FD76-D9F3-19B57E7A2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496DD-27B7-9E61-A471-F65F056B6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3250"/>
          </a:xfr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dirty="0">
                <a:solidFill>
                  <a:srgbClr val="0A2F41"/>
                </a:solidFill>
                <a:latin typeface="Segoe UI"/>
                <a:cs typeface="Segoe UI"/>
              </a:rPr>
              <a:t>Profiling &amp; Diagnostic Methodology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C2219-4A2D-B7A9-16C2-60014933E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213" y="1622562"/>
            <a:ext cx="10240299" cy="46220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latin typeface="Segoe UI"/>
                <a:cs typeface="Segoe UI"/>
              </a:rPr>
              <a:t>Step 1: Sample call stacks with</a:t>
            </a:r>
            <a:endParaRPr lang="en-US" sz="1400" dirty="0">
              <a:latin typeface="Aptos" panose="02110004020202020204"/>
              <a:cs typeface="Segoe U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i="1" dirty="0">
                <a:latin typeface="Segoe UI"/>
                <a:cs typeface="Segoe UI"/>
              </a:rPr>
              <a:t>perf record –F 999 –g -- python3-dbg –u run_benchmark.py</a:t>
            </a:r>
            <a:endParaRPr lang="en-US" sz="1600">
              <a:latin typeface="Aptos" panose="02110004020202020204"/>
              <a:cs typeface="Segoe UI"/>
            </a:endParaRPr>
          </a:p>
          <a:p>
            <a:r>
              <a:rPr lang="en-US" sz="1800" dirty="0">
                <a:latin typeface="Segoe UI"/>
                <a:cs typeface="Segoe UI"/>
              </a:rPr>
              <a:t>Step 2: Identify bottlenecks, e.g.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 dirty="0">
                <a:latin typeface="Segoe UI"/>
                <a:cs typeface="Segoe UI"/>
              </a:rPr>
              <a:t>Filler</a:t>
            </a:r>
          </a:p>
          <a:p>
            <a:r>
              <a:rPr lang="en-US" sz="1800" dirty="0">
                <a:latin typeface="Segoe UI"/>
                <a:cs typeface="Segoe UI"/>
              </a:rPr>
              <a:t>Step 3: Optimize code</a:t>
            </a:r>
          </a:p>
          <a:p>
            <a:r>
              <a:rPr lang="en-US" sz="1800" dirty="0">
                <a:latin typeface="Segoe UI"/>
                <a:cs typeface="Segoe UI"/>
              </a:rPr>
              <a:t>Step 4: Compare unoptimized vs optimized by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>
                <a:latin typeface="Segoe UI"/>
                <a:cs typeface="Segoe UI"/>
              </a:rPr>
              <a:t>Running both version with </a:t>
            </a:r>
            <a:r>
              <a:rPr lang="en-US" sz="1600" i="1" dirty="0">
                <a:latin typeface="Segoe UI"/>
                <a:cs typeface="Segoe UI"/>
              </a:rPr>
              <a:t>pyperf</a:t>
            </a:r>
            <a:r>
              <a:rPr lang="en-US" sz="1600" dirty="0">
                <a:latin typeface="Segoe UI"/>
                <a:cs typeface="Segoe UI"/>
              </a:rPr>
              <a:t> and recording output to JSON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>
                <a:latin typeface="Segoe UI"/>
                <a:cs typeface="Segoe UI"/>
              </a:rPr>
              <a:t>Inspecting improvement with </a:t>
            </a:r>
            <a:r>
              <a:rPr lang="en-US" sz="1600" i="1" dirty="0">
                <a:latin typeface="Segoe UI"/>
                <a:cs typeface="Segoe UI"/>
              </a:rPr>
              <a:t>pyperf compare_to </a:t>
            </a:r>
            <a:r>
              <a:rPr lang="en-US" sz="1600" dirty="0">
                <a:latin typeface="Segoe UI"/>
                <a:cs typeface="Segoe UI"/>
              </a:rPr>
              <a:t>with both JSONs</a:t>
            </a:r>
          </a:p>
          <a:p>
            <a:r>
              <a:rPr lang="en-US" sz="1800" dirty="0">
                <a:latin typeface="Segoe UI"/>
                <a:cs typeface="Segoe UI"/>
              </a:rPr>
              <a:t>Step 5: If performance improvement is </a:t>
            </a:r>
            <a:r>
              <a:rPr lang="en-US" sz="1800" b="1" dirty="0">
                <a:latin typeface="Segoe UI"/>
                <a:cs typeface="Segoe UI"/>
              </a:rPr>
              <a:t>not</a:t>
            </a:r>
            <a:r>
              <a:rPr lang="en-US" sz="1800" dirty="0">
                <a:latin typeface="Segoe UI"/>
                <a:cs typeface="Segoe UI"/>
              </a:rPr>
              <a:t> satisfactory, go to step 1</a:t>
            </a:r>
            <a:endParaRPr lang="en-US" sz="1800" i="1" dirty="0">
              <a:latin typeface="Segoe UI"/>
              <a:cs typeface="Segoe UI"/>
            </a:endParaRPr>
          </a:p>
          <a:p>
            <a:pPr marL="0" indent="0">
              <a:buNone/>
            </a:pPr>
            <a:r>
              <a:rPr lang="en-US" sz="1800" dirty="0">
                <a:latin typeface="Segoe UI"/>
                <a:cs typeface="Segoe UI"/>
              </a:rPr>
              <a:t>     Otherwise, inspect the flame graph</a:t>
            </a:r>
            <a:r>
              <a:rPr lang="en-US" sz="1800" baseline="30000" dirty="0">
                <a:latin typeface="Segoe UI"/>
                <a:cs typeface="Segoe UI"/>
              </a:rPr>
              <a:t>(1)</a:t>
            </a:r>
            <a:r>
              <a:rPr lang="en-US" sz="1800" dirty="0">
                <a:latin typeface="Segoe UI"/>
                <a:cs typeface="Segoe UI"/>
              </a:rPr>
              <a:t> for visual confirmation</a:t>
            </a:r>
            <a:endParaRPr lang="en-US" sz="1800" i="1" dirty="0">
              <a:latin typeface="Segoe UI"/>
              <a:cs typeface="Segoe UI"/>
            </a:endParaRPr>
          </a:p>
          <a:p>
            <a:pPr marL="457200" lvl="1" indent="0">
              <a:buNone/>
            </a:pPr>
            <a:endParaRPr lang="en-US" sz="1600" i="1" dirty="0">
              <a:latin typeface="Segoe UI"/>
              <a:cs typeface="Segoe UI"/>
            </a:endParaRPr>
          </a:p>
          <a:p>
            <a:pPr marL="457200" lvl="1" indent="0">
              <a:buNone/>
            </a:pPr>
            <a:r>
              <a:rPr lang="en-US" sz="1600" i="1" dirty="0">
                <a:latin typeface="Segoe UI"/>
                <a:cs typeface="Segoe UI"/>
              </a:rPr>
              <a:t>  </a:t>
            </a:r>
          </a:p>
          <a:p>
            <a:pPr marL="457200" lvl="1" indent="0">
              <a:buNone/>
            </a:pPr>
            <a:r>
              <a:rPr lang="en-US" sz="1600" i="1" dirty="0">
                <a:latin typeface="Segoe UI"/>
                <a:cs typeface="Segoe UI"/>
              </a:rPr>
              <a:t>  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F04433D-CA67-9504-CD1B-36BF25526F10}"/>
              </a:ext>
            </a:extLst>
          </p:cNvPr>
          <p:cNvCxnSpPr/>
          <p:nvPr/>
        </p:nvCxnSpPr>
        <p:spPr>
          <a:xfrm flipV="1">
            <a:off x="842210" y="1262952"/>
            <a:ext cx="10248947" cy="17516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79D13E3E-4652-792F-5B13-E8DD727D5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131" y="2638040"/>
            <a:ext cx="9695448" cy="32863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F72E583-9CFA-6984-7B79-465F5E20C7CB}"/>
              </a:ext>
            </a:extLst>
          </p:cNvPr>
          <p:cNvSpPr txBox="1">
            <a:spLocks/>
          </p:cNvSpPr>
          <p:nvPr/>
        </p:nvSpPr>
        <p:spPr>
          <a:xfrm>
            <a:off x="836218" y="5715303"/>
            <a:ext cx="10190168" cy="106270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Segoe UI"/>
                <a:cs typeface="Segoe UI"/>
              </a:rPr>
              <a:t>(1) Flame-graph representation can be misleading, since it normalizes total execution and interpreter-level optimizations shrink runtime uniformly.</a:t>
            </a:r>
            <a:endParaRPr lang="en-US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1600" i="1" dirty="0">
              <a:latin typeface="Segoe UI"/>
              <a:cs typeface="Segoe UI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600" i="1" dirty="0">
                <a:latin typeface="Segoe UI"/>
                <a:cs typeface="Segoe UI"/>
              </a:rPr>
              <a:t>  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600" i="1" dirty="0">
                <a:latin typeface="Segoe UI"/>
                <a:cs typeface="Segoe UI"/>
              </a:rPr>
              <a:t>  </a:t>
            </a:r>
          </a:p>
        </p:txBody>
      </p:sp>
    </p:spTree>
    <p:extLst>
      <p:ext uri="{BB962C8B-B14F-4D97-AF65-F5344CB8AC3E}">
        <p14:creationId xmlns:p14="http://schemas.microsoft.com/office/powerpoint/2010/main" val="859059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90C20-63A8-2442-71EF-3B95FF018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9F96F-08C1-6AFA-ED05-6B3EC714E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23679"/>
            <a:ext cx="9144000" cy="2387600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Segoe UI"/>
                <a:cs typeface="Segoe UI"/>
              </a:rPr>
              <a:t>BENCHMARK #1 - RAYTRACE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575650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3BACA-FC13-1FF1-EF0D-E1D48EDFB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EEC12-FC2F-1927-E08E-7491CAD03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3250"/>
          </a:xfr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dirty="0">
                <a:solidFill>
                  <a:srgbClr val="0A2F41"/>
                </a:solidFill>
                <a:latin typeface="Segoe UI"/>
                <a:cs typeface="Segoe UI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1B5B4-65C0-345D-443B-937B42047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213" y="1622562"/>
            <a:ext cx="10240299" cy="462204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000" dirty="0">
                <a:latin typeface="Segoe UI"/>
                <a:cs typeface="Segoe UI"/>
              </a:rPr>
              <a:t>Target: Standard library raytracer evaluating 3D geometry and vector math</a:t>
            </a:r>
          </a:p>
          <a:p>
            <a:r>
              <a:rPr lang="en-US" sz="2000" dirty="0">
                <a:latin typeface="Segoe UI"/>
                <a:cs typeface="Segoe UI"/>
              </a:rPr>
              <a:t>Discovered bottlenecks:</a:t>
            </a:r>
          </a:p>
          <a:p>
            <a:endParaRPr lang="en-US" sz="2000" dirty="0">
              <a:latin typeface="Segoe UI"/>
              <a:cs typeface="Segoe UI"/>
            </a:endParaRPr>
          </a:p>
          <a:p>
            <a:endParaRPr lang="en-US" sz="2000" dirty="0">
              <a:latin typeface="Segoe UI"/>
              <a:cs typeface="Segoe UI"/>
            </a:endParaRPr>
          </a:p>
          <a:p>
            <a:endParaRPr lang="en-US" sz="2000" dirty="0">
              <a:latin typeface="Segoe UI"/>
              <a:cs typeface="Segoe U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600" dirty="0">
              <a:latin typeface="Segoe UI"/>
              <a:cs typeface="Segoe U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600" dirty="0">
              <a:latin typeface="Segoe UI"/>
              <a:cs typeface="Segoe U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600" dirty="0">
              <a:latin typeface="Segoe UI"/>
              <a:cs typeface="Segoe U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600" dirty="0">
              <a:latin typeface="Segoe UI"/>
              <a:cs typeface="Segoe U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600" dirty="0">
              <a:latin typeface="Segoe UI"/>
              <a:cs typeface="Segoe U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600" dirty="0">
              <a:latin typeface="Segoe UI"/>
              <a:cs typeface="Segoe U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600" dirty="0">
              <a:latin typeface="Segoe UI"/>
              <a:cs typeface="Segoe U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>
                <a:latin typeface="Segoe UI"/>
                <a:cs typeface="Segoe UI"/>
              </a:rPr>
              <a:t>Interpretation: C frame creation and deallocation during function calls along with temporary object creation are responsible for </a:t>
            </a:r>
            <a:r>
              <a:rPr lang="en-US" sz="1600" dirty="0">
                <a:latin typeface="Consolas"/>
                <a:cs typeface="Segoe UI"/>
              </a:rPr>
              <a:t>~10%</a:t>
            </a:r>
            <a:r>
              <a:rPr lang="en-US" sz="1600" dirty="0">
                <a:latin typeface="Segoe UI"/>
                <a:cs typeface="Segoe UI"/>
              </a:rPr>
              <a:t> of runtime (top 3 lines). Moreover, object attribute and method lookup overhead during object property access contribute additional </a:t>
            </a:r>
            <a:r>
              <a:rPr lang="en-US" sz="1600" dirty="0">
                <a:latin typeface="Consolas"/>
                <a:cs typeface="Segoe UI"/>
              </a:rPr>
              <a:t>3.5-9%</a:t>
            </a:r>
            <a:r>
              <a:rPr lang="en-US" sz="1600" dirty="0">
                <a:latin typeface="Segoe UI"/>
                <a:cs typeface="Segoe UI"/>
              </a:rPr>
              <a:t> of runtime</a:t>
            </a:r>
            <a:endParaRPr lang="en-US" dirty="0"/>
          </a:p>
          <a:p>
            <a:pPr marL="457200" lvl="1" indent="0">
              <a:buNone/>
            </a:pPr>
            <a:r>
              <a:rPr lang="en-US" sz="1600" i="1" dirty="0">
                <a:latin typeface="Segoe UI"/>
                <a:cs typeface="Segoe UI"/>
              </a:rPr>
              <a:t>  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975AA67-384D-9BF5-7029-40862AB84F57}"/>
              </a:ext>
            </a:extLst>
          </p:cNvPr>
          <p:cNvCxnSpPr/>
          <p:nvPr/>
        </p:nvCxnSpPr>
        <p:spPr>
          <a:xfrm flipV="1">
            <a:off x="842210" y="1262952"/>
            <a:ext cx="10248947" cy="17516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5925E511-472B-2932-3FBF-933B82014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606" y="3041436"/>
            <a:ext cx="8141369" cy="323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DA1D4C-D619-DEA3-BD42-3C3335FE7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606" y="2399752"/>
            <a:ext cx="8141369" cy="3239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6ED2EB-1FF7-5329-733D-B01CEBC1DB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3606" y="2730622"/>
            <a:ext cx="8141368" cy="3038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225573-1694-F40B-E532-AAB153BEA0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5361" y="3433512"/>
            <a:ext cx="2743702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093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6033F-5B72-1D43-C38F-F7394A116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0BD32-A6B8-DBFD-8FDA-99910396E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3250"/>
          </a:xfr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dirty="0">
                <a:solidFill>
                  <a:srgbClr val="0A2F41"/>
                </a:solidFill>
                <a:latin typeface="Segoe UI"/>
                <a:cs typeface="Segoe UI"/>
              </a:rPr>
              <a:t>Refactoring Strategy &amp; SW Optimizations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72443-FD60-0CE9-7F7F-FFCB2FBB2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213" y="1622562"/>
            <a:ext cx="10240299" cy="46220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latin typeface="Segoe UI"/>
                <a:cs typeface="Segoe UI"/>
              </a:rPr>
              <a:t>Inlining scalar math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>
                <a:latin typeface="Segoe UI"/>
                <a:cs typeface="Segoe UI"/>
              </a:rPr>
              <a:t>Replaced multi-step vector allocations with local scalar unpacking</a:t>
            </a:r>
            <a:endParaRPr lang="en-US" dirty="0">
              <a:latin typeface="Aptos" panose="02110004020202020204"/>
              <a:cs typeface="Segoe U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>
                <a:latin typeface="Segoe UI"/>
                <a:cs typeface="Segoe UI"/>
              </a:rPr>
              <a:t>Before: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sz="1600" dirty="0">
              <a:latin typeface="Segoe UI"/>
              <a:cs typeface="Segoe U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600" dirty="0">
              <a:latin typeface="Segoe UI"/>
              <a:cs typeface="Segoe U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600" dirty="0">
              <a:latin typeface="Segoe UI"/>
              <a:cs typeface="Segoe U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600" dirty="0">
              <a:latin typeface="Segoe UI"/>
              <a:cs typeface="Segoe U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600" dirty="0">
              <a:latin typeface="Segoe UI"/>
              <a:cs typeface="Segoe U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600" dirty="0">
              <a:latin typeface="Segoe UI"/>
              <a:cs typeface="Segoe U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600" dirty="0">
              <a:latin typeface="Segoe UI"/>
              <a:cs typeface="Segoe U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600" dirty="0">
              <a:latin typeface="Segoe UI"/>
              <a:cs typeface="Segoe U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>
                <a:latin typeface="Segoe UI"/>
                <a:cs typeface="Segoe UI"/>
              </a:rPr>
              <a:t>After:</a:t>
            </a:r>
          </a:p>
          <a:p>
            <a:pPr marL="457200" lvl="1" indent="0">
              <a:buNone/>
            </a:pPr>
            <a:endParaRPr lang="en-US" sz="1600" dirty="0">
              <a:latin typeface="Segoe UI"/>
              <a:cs typeface="Segoe UI"/>
            </a:endParaRPr>
          </a:p>
          <a:p>
            <a:pPr marL="457200" lvl="1" indent="0">
              <a:buNone/>
            </a:pPr>
            <a:endParaRPr lang="en-US" sz="1600" dirty="0">
              <a:latin typeface="Segoe UI"/>
              <a:cs typeface="Segoe UI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DEEE505-AEF6-B2F7-4F70-5EEA4713CEFB}"/>
              </a:ext>
            </a:extLst>
          </p:cNvPr>
          <p:cNvCxnSpPr/>
          <p:nvPr/>
        </p:nvCxnSpPr>
        <p:spPr>
          <a:xfrm flipV="1">
            <a:off x="842210" y="1262952"/>
            <a:ext cx="10248947" cy="17516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F65E35D-F84D-9CAF-D772-3E4449443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711" y="2501892"/>
            <a:ext cx="5283869" cy="23354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C21322-0210-C8E6-9EB1-1934744D9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710" y="5144528"/>
            <a:ext cx="5283869" cy="129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282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65A2F-86ED-1364-981A-0A457530B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2CE4D-B5CA-6DD1-C104-3D4BB633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3250"/>
          </a:xfr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dirty="0">
                <a:solidFill>
                  <a:srgbClr val="0A2F41"/>
                </a:solidFill>
                <a:latin typeface="Segoe UI"/>
                <a:cs typeface="Segoe UI"/>
              </a:rPr>
              <a:t>Refactoring Strategy &amp; SW Optimizations (Cont.)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0104A-8B1C-93E5-0C37-E7865AF06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213" y="1622562"/>
            <a:ext cx="10240299" cy="46220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latin typeface="Segoe UI"/>
                <a:cs typeface="Segoe UI"/>
              </a:rPr>
              <a:t>Removing type asserts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>
                <a:latin typeface="Segoe UI"/>
                <a:cs typeface="Segoe UI"/>
              </a:rPr>
              <a:t>Eliminated defensive assertions in tight loops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>
                <a:latin typeface="Segoe UI"/>
                <a:cs typeface="Segoe UI"/>
              </a:rPr>
              <a:t>Before: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1600" dirty="0">
              <a:latin typeface="Segoe UI"/>
              <a:cs typeface="Segoe U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600" dirty="0">
              <a:latin typeface="Segoe UI"/>
              <a:cs typeface="Segoe U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600" dirty="0">
              <a:latin typeface="Segoe UI"/>
              <a:cs typeface="Segoe U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600" dirty="0">
              <a:latin typeface="Segoe UI"/>
              <a:cs typeface="Segoe U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600" dirty="0">
              <a:latin typeface="Segoe UI"/>
              <a:cs typeface="Segoe U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>
                <a:latin typeface="Segoe UI"/>
                <a:cs typeface="Segoe UI"/>
              </a:rPr>
              <a:t>After:</a:t>
            </a:r>
          </a:p>
          <a:p>
            <a:pPr marL="457200" lvl="1" indent="0">
              <a:buNone/>
            </a:pPr>
            <a:endParaRPr lang="en-US" sz="1600" dirty="0">
              <a:latin typeface="Segoe UI"/>
              <a:cs typeface="Segoe UI"/>
            </a:endParaRPr>
          </a:p>
          <a:p>
            <a:pPr marL="457200" lvl="1" indent="0">
              <a:buNone/>
            </a:pPr>
            <a:endParaRPr lang="en-US" sz="1600" dirty="0">
              <a:latin typeface="Segoe UI"/>
              <a:cs typeface="Segoe UI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4570F1C-B5A5-6D10-026E-2EC816F6CF0A}"/>
              </a:ext>
            </a:extLst>
          </p:cNvPr>
          <p:cNvCxnSpPr/>
          <p:nvPr/>
        </p:nvCxnSpPr>
        <p:spPr>
          <a:xfrm flipV="1">
            <a:off x="842210" y="1262952"/>
            <a:ext cx="10248947" cy="17516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6F0C11F-7573-FE34-4F10-D12D4A20C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013" y="4214193"/>
            <a:ext cx="7170145" cy="10828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C4A5BD-9D84-B911-3ACA-1B0C8F305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012" y="2514890"/>
            <a:ext cx="7776073" cy="141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896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ED06F-313C-52EF-B6AF-56C619DD3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2E7C7-6596-D5D0-B727-280F15C67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3250"/>
          </a:xfr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dirty="0">
                <a:solidFill>
                  <a:srgbClr val="0A2F41"/>
                </a:solidFill>
                <a:latin typeface="Segoe UI"/>
                <a:cs typeface="Segoe UI"/>
              </a:rPr>
              <a:t>Refactoring Strategy &amp; SW Optimizations (Cont.)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A491B-81F5-FFD1-17CE-30F19DE01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213" y="1622562"/>
            <a:ext cx="10240299" cy="46220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latin typeface="Segoe UI"/>
                <a:cs typeface="Segoe UI"/>
              </a:rPr>
              <a:t>Direct Coordinates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>
                <a:latin typeface="Segoe UI"/>
                <a:cs typeface="Segoe UI"/>
              </a:rPr>
              <a:t>Computed ray-sphere quadratics directly in FP scalars, bypassing intermediate object creation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>
                <a:latin typeface="Segoe UI"/>
                <a:cs typeface="Segoe UI"/>
              </a:rPr>
              <a:t>Before: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1600" dirty="0">
              <a:latin typeface="Segoe UI"/>
              <a:cs typeface="Segoe U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600" dirty="0">
              <a:latin typeface="Segoe UI"/>
              <a:cs typeface="Segoe U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600" dirty="0">
              <a:latin typeface="Segoe UI"/>
              <a:cs typeface="Segoe U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600" dirty="0">
              <a:latin typeface="Segoe UI"/>
              <a:cs typeface="Segoe U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600" dirty="0">
              <a:latin typeface="Segoe UI"/>
              <a:cs typeface="Segoe U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>
                <a:latin typeface="Segoe UI"/>
                <a:cs typeface="Segoe UI"/>
              </a:rPr>
              <a:t>After:</a:t>
            </a:r>
            <a:endParaRPr lang="en-US" dirty="0"/>
          </a:p>
          <a:p>
            <a:pPr marL="457200" lvl="1" indent="0">
              <a:buNone/>
            </a:pPr>
            <a:endParaRPr lang="en-US" sz="1600" dirty="0">
              <a:latin typeface="Segoe UI"/>
              <a:cs typeface="Segoe UI"/>
            </a:endParaRPr>
          </a:p>
          <a:p>
            <a:pPr marL="457200" lvl="1" indent="0">
              <a:buNone/>
            </a:pPr>
            <a:endParaRPr lang="en-US" sz="1600" dirty="0">
              <a:latin typeface="Segoe UI"/>
              <a:cs typeface="Segoe UI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6CF9453-7F06-2645-7A18-57A9FD1270F7}"/>
              </a:ext>
            </a:extLst>
          </p:cNvPr>
          <p:cNvCxnSpPr/>
          <p:nvPr/>
        </p:nvCxnSpPr>
        <p:spPr>
          <a:xfrm flipV="1">
            <a:off x="842210" y="1262952"/>
            <a:ext cx="10248947" cy="17516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9CB5042-ED9C-FB8D-4C9B-4108B60C7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105" y="2477986"/>
            <a:ext cx="4732423" cy="15912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F4E8D9-5D87-91A7-32BC-4EBDA50F0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4225510"/>
            <a:ext cx="4772526" cy="262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018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4E8F0-1864-49F9-1476-98B89D6C9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2F329-1AD8-D8EC-A978-37AA85D4C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3250"/>
          </a:xfr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dirty="0">
                <a:solidFill>
                  <a:srgbClr val="0A2F41"/>
                </a:solidFill>
                <a:latin typeface="Segoe UI"/>
                <a:cs typeface="Segoe UI"/>
              </a:rPr>
              <a:t>Optimization Results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1A652-932A-4B7B-D3B2-90CA8AE03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213" y="1622562"/>
            <a:ext cx="10240299" cy="46220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i="1" dirty="0" err="1">
                <a:latin typeface="Segoe UI"/>
                <a:cs typeface="Segoe UI"/>
              </a:rPr>
              <a:t>pyperf</a:t>
            </a:r>
            <a:r>
              <a:rPr lang="en-US" sz="2000" i="1" dirty="0">
                <a:latin typeface="Segoe UI"/>
                <a:cs typeface="Segoe UI"/>
              </a:rPr>
              <a:t> </a:t>
            </a:r>
            <a:r>
              <a:rPr lang="en-US" sz="2000" dirty="0">
                <a:latin typeface="Segoe UI"/>
                <a:cs typeface="Segoe UI"/>
              </a:rPr>
              <a:t>runtime results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1600" i="1" dirty="0">
              <a:latin typeface="Segoe UI"/>
              <a:cs typeface="Segoe UI"/>
            </a:endParaRPr>
          </a:p>
          <a:p>
            <a:pPr marL="457200" lvl="1" indent="0">
              <a:buNone/>
            </a:pPr>
            <a:endParaRPr lang="en-US" sz="1600" dirty="0">
              <a:latin typeface="Segoe UI"/>
              <a:cs typeface="Segoe UI"/>
            </a:endParaRPr>
          </a:p>
          <a:p>
            <a:pPr marL="457200" lvl="1" indent="0">
              <a:buNone/>
            </a:pPr>
            <a:endParaRPr lang="en-US" sz="1600" dirty="0">
              <a:latin typeface="Segoe UI"/>
              <a:cs typeface="Segoe UI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68DF462-3B1E-6B36-3777-120A53C5E3B2}"/>
              </a:ext>
            </a:extLst>
          </p:cNvPr>
          <p:cNvCxnSpPr/>
          <p:nvPr/>
        </p:nvCxnSpPr>
        <p:spPr>
          <a:xfrm flipV="1">
            <a:off x="842210" y="1262952"/>
            <a:ext cx="10248947" cy="17516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8EDA1B2-2BE7-E72C-F519-01B0DF1BA9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2756814"/>
              </p:ext>
            </p:extLst>
          </p:nvPr>
        </p:nvGraphicFramePr>
        <p:xfrm>
          <a:off x="2919470" y="2206270"/>
          <a:ext cx="6096000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665D3F6-3155-F6C1-442C-4B09D332CB66}"/>
              </a:ext>
            </a:extLst>
          </p:cNvPr>
          <p:cNvSpPr txBox="1"/>
          <p:nvPr/>
        </p:nvSpPr>
        <p:spPr>
          <a:xfrm>
            <a:off x="4662236" y="4281236"/>
            <a:ext cx="76801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/>
              <a:t>33.15%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3F8CBB-FA5F-D632-B700-B110E8D875A7}"/>
              </a:ext>
            </a:extLst>
          </p:cNvPr>
          <p:cNvSpPr txBox="1"/>
          <p:nvPr/>
        </p:nvSpPr>
        <p:spPr>
          <a:xfrm>
            <a:off x="6396788" y="4281236"/>
            <a:ext cx="76801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/>
              <a:t>33.13%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E2A761-0F3A-B4ED-8F29-D5F0B0256E0A}"/>
              </a:ext>
            </a:extLst>
          </p:cNvPr>
          <p:cNvSpPr txBox="1"/>
          <p:nvPr/>
        </p:nvSpPr>
        <p:spPr>
          <a:xfrm>
            <a:off x="8161419" y="4632156"/>
            <a:ext cx="76801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/>
              <a:t>23.62%</a:t>
            </a:r>
          </a:p>
        </p:txBody>
      </p:sp>
    </p:spTree>
    <p:extLst>
      <p:ext uri="{BB962C8B-B14F-4D97-AF65-F5344CB8AC3E}">
        <p14:creationId xmlns:p14="http://schemas.microsoft.com/office/powerpoint/2010/main" val="1632983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0F829-3877-B5F2-FABE-BC0417A51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11EE4-ADFD-DD4C-1666-A713E0CC3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3250"/>
          </a:xfr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dirty="0">
                <a:solidFill>
                  <a:srgbClr val="0A2F41"/>
                </a:solidFill>
                <a:latin typeface="Segoe UI"/>
                <a:cs typeface="Segoe UI"/>
              </a:rPr>
              <a:t>Optimization Results (Cont.)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3C92D-B9F6-0614-9B3E-AC2EA5F0F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213" y="1622562"/>
            <a:ext cx="10240299" cy="46220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i="1" dirty="0">
                <a:latin typeface="Segoe UI"/>
                <a:cs typeface="Segoe UI"/>
              </a:rPr>
              <a:t>perf record/report </a:t>
            </a:r>
            <a:r>
              <a:rPr lang="en-US" sz="2000" dirty="0" err="1">
                <a:latin typeface="Segoe UI"/>
                <a:cs typeface="Segoe UI"/>
              </a:rPr>
              <a:t>callchain</a:t>
            </a:r>
            <a:r>
              <a:rPr lang="en-US" sz="2000" dirty="0">
                <a:latin typeface="Segoe UI"/>
                <a:cs typeface="Segoe UI"/>
              </a:rPr>
              <a:t> results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1600" i="1" dirty="0">
              <a:latin typeface="Segoe UI"/>
              <a:cs typeface="Segoe UI"/>
            </a:endParaRPr>
          </a:p>
          <a:p>
            <a:pPr marL="457200" lvl="1" indent="0">
              <a:buNone/>
            </a:pPr>
            <a:endParaRPr lang="en-US" sz="1600" dirty="0">
              <a:latin typeface="Segoe UI"/>
              <a:cs typeface="Segoe UI"/>
            </a:endParaRPr>
          </a:p>
          <a:p>
            <a:pPr marL="457200" lvl="1" indent="0">
              <a:buNone/>
            </a:pPr>
            <a:endParaRPr lang="en-US" sz="1600" dirty="0">
              <a:latin typeface="Segoe UI"/>
              <a:cs typeface="Segoe UI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72DD86C-71B7-31B5-0486-C786C849F9E8}"/>
              </a:ext>
            </a:extLst>
          </p:cNvPr>
          <p:cNvCxnSpPr/>
          <p:nvPr/>
        </p:nvCxnSpPr>
        <p:spPr>
          <a:xfrm flipV="1">
            <a:off x="842210" y="1262952"/>
            <a:ext cx="10248947" cy="17516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F47E1CF9-9D38-6382-0BBB-5B8A487A83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5463800"/>
              </p:ext>
            </p:extLst>
          </p:nvPr>
        </p:nvGraphicFramePr>
        <p:xfrm>
          <a:off x="2917657" y="2238041"/>
          <a:ext cx="6096000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28560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055C1-638F-23A3-7559-70592E038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0FEB5-6DA1-EF21-2604-4DD23E6C0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3250"/>
          </a:xfr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dirty="0">
                <a:solidFill>
                  <a:srgbClr val="0A2F41"/>
                </a:solidFill>
                <a:latin typeface="Segoe UI"/>
                <a:cs typeface="Segoe UI"/>
              </a:rPr>
              <a:t>Optimization Results (Cont.)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DBE10-EA7E-F766-ED5B-0D989A6B5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213" y="1622562"/>
            <a:ext cx="10240299" cy="46220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i="1" dirty="0">
                <a:latin typeface="Segoe UI"/>
                <a:cs typeface="Segoe UI"/>
              </a:rPr>
              <a:t>perf stat </a:t>
            </a:r>
            <a:r>
              <a:rPr lang="en-US" sz="2000" dirty="0">
                <a:latin typeface="Segoe UI"/>
                <a:cs typeface="Segoe UI"/>
              </a:rPr>
              <a:t>results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sz="1600" i="1" dirty="0">
              <a:latin typeface="Segoe UI"/>
              <a:cs typeface="Segoe UI"/>
            </a:endParaRPr>
          </a:p>
          <a:p>
            <a:pPr marL="457200" lvl="1" indent="0">
              <a:buNone/>
            </a:pPr>
            <a:endParaRPr lang="en-US" sz="1600" dirty="0">
              <a:latin typeface="Segoe UI"/>
              <a:cs typeface="Segoe UI"/>
            </a:endParaRPr>
          </a:p>
          <a:p>
            <a:pPr marL="457200" lvl="1" indent="0">
              <a:buNone/>
            </a:pPr>
            <a:endParaRPr lang="en-US" sz="1600" dirty="0">
              <a:latin typeface="Segoe UI"/>
              <a:cs typeface="Segoe UI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87E4F04-364E-FC49-06FD-82C47221B1E3}"/>
              </a:ext>
            </a:extLst>
          </p:cNvPr>
          <p:cNvCxnSpPr/>
          <p:nvPr/>
        </p:nvCxnSpPr>
        <p:spPr>
          <a:xfrm flipV="1">
            <a:off x="842210" y="1262952"/>
            <a:ext cx="10248947" cy="17516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662A3C1-12E1-C6DF-1E06-BDAD94C58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88200"/>
              </p:ext>
            </p:extLst>
          </p:nvPr>
        </p:nvGraphicFramePr>
        <p:xfrm>
          <a:off x="1355057" y="2840204"/>
          <a:ext cx="9201150" cy="2666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050">
                  <a:extLst>
                    <a:ext uri="{9D8B030D-6E8A-4147-A177-3AD203B41FA5}">
                      <a16:colId xmlns:a16="http://schemas.microsoft.com/office/drawing/2014/main" val="3018014493"/>
                    </a:ext>
                  </a:extLst>
                </a:gridCol>
                <a:gridCol w="3067050">
                  <a:extLst>
                    <a:ext uri="{9D8B030D-6E8A-4147-A177-3AD203B41FA5}">
                      <a16:colId xmlns:a16="http://schemas.microsoft.com/office/drawing/2014/main" val="892045359"/>
                    </a:ext>
                  </a:extLst>
                </a:gridCol>
                <a:gridCol w="3067050">
                  <a:extLst>
                    <a:ext uri="{9D8B030D-6E8A-4147-A177-3AD203B41FA5}">
                      <a16:colId xmlns:a16="http://schemas.microsoft.com/office/drawing/2014/main" val="87292216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600" b="1" i="0" dirty="0">
                          <a:solidFill>
                            <a:srgbClr val="FFFFFF"/>
                          </a:solidFill>
                          <a:effectLst/>
                          <a:latin typeface="Segoe UI"/>
                          <a:cs typeface="Segoe UI"/>
                        </a:rPr>
                        <a:t>Metric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600" b="1" i="0" dirty="0">
                          <a:solidFill>
                            <a:srgbClr val="FFFFFF"/>
                          </a:solidFill>
                          <a:effectLst/>
                          <a:latin typeface="Segoe UI"/>
                          <a:cs typeface="Segoe UI"/>
                        </a:rPr>
                        <a:t>Original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600" b="1" i="0" dirty="0">
                          <a:solidFill>
                            <a:srgbClr val="FFFFFF"/>
                          </a:solidFill>
                          <a:effectLst/>
                          <a:latin typeface="Segoe UI"/>
                          <a:cs typeface="Segoe UI"/>
                        </a:rPr>
                        <a:t>Optimized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8816845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Segoe UI"/>
                          <a:cs typeface="Segoe UI"/>
                        </a:rPr>
                        <a:t>Cycles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  <a:cs typeface="Segoe UI"/>
                        </a:rPr>
                        <a:t>4.5e+11</a:t>
                      </a:r>
                    </a:p>
                  </a:txBody>
                  <a:tcPr marL="95250" marR="952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  <a:cs typeface="Segoe UI"/>
                        </a:rPr>
                        <a:t>3.05e+11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9040482"/>
                  </a:ext>
                </a:extLst>
              </a:tr>
              <a:tr h="466724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Segoe UI"/>
                          <a:cs typeface="Segoe UI"/>
                        </a:rPr>
                        <a:t>IPC</a:t>
                      </a:r>
                    </a:p>
                  </a:txBody>
                  <a:tcPr anchor="ctr"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  <a:cs typeface="Segoe UI"/>
                        </a:rPr>
                        <a:t>2.056</a:t>
                      </a:r>
                    </a:p>
                  </a:txBody>
                  <a:tcPr marL="95249" marR="95249" marT="57150" marB="57150" anchor="ctr"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  <a:cs typeface="Segoe UI"/>
                        </a:rPr>
                        <a:t>2.113</a:t>
                      </a:r>
                    </a:p>
                  </a:txBody>
                  <a:tcPr anchor="ctr"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FFFF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467424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Segoe UI"/>
                          <a:cs typeface="Segoe UI"/>
                        </a:rPr>
                        <a:t>L1 Load Misses / Cycle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  <a:cs typeface="Segoe UI"/>
                        </a:rPr>
                        <a:t>1.374e-2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  <a:cs typeface="Segoe UI"/>
                        </a:rPr>
                        <a:t>1.422e-2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1046247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Segoe UI"/>
                          <a:cs typeface="Segoe UI"/>
                        </a:rPr>
                        <a:t>Branch Misses / Cycle</a:t>
                      </a:r>
                      <a:endParaRPr lang="en-US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  <a:cs typeface="Segoe UI"/>
                        </a:rPr>
                        <a:t>4.384e-3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  <a:cs typeface="Segoe UI"/>
                        </a:rPr>
                        <a:t>3.947e-3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760876"/>
                  </a:ext>
                </a:extLst>
              </a:tr>
              <a:tr h="438149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Segoe UI"/>
                          <a:cs typeface="Segoe UI"/>
                        </a:rPr>
                        <a:t>Page Faults / Cycle</a:t>
                      </a:r>
                    </a:p>
                  </a:txBody>
                  <a:tcPr anchor="ctr"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  <a:cs typeface="Segoe UI"/>
                        </a:rPr>
                        <a:t>2.011e-7</a:t>
                      </a:r>
                    </a:p>
                  </a:txBody>
                  <a:tcPr anchor="ctr"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  <a:cs typeface="Segoe UI"/>
                        </a:rPr>
                        <a:t>2.982e-7</a:t>
                      </a:r>
                    </a:p>
                  </a:txBody>
                  <a:tcPr anchor="ctr"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FFFF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588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8368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6D57D-DAB4-C217-E209-4BB15537B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71874-A8E0-CFD3-0FFE-83E936FAD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23679"/>
            <a:ext cx="9144000" cy="2387600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Segoe UI"/>
                <a:cs typeface="Segoe UI"/>
              </a:rPr>
              <a:t>BENCHMARK #2 - NBODY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21992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C61F6-751E-A190-9545-0743EC110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01A2A-8576-30F0-A29A-0D688720A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3250"/>
          </a:xfr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dirty="0">
                <a:solidFill>
                  <a:srgbClr val="0A2F41"/>
                </a:solidFill>
                <a:latin typeface="Segoe UI"/>
                <a:cs typeface="Segoe UI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28B08-FF00-A3C2-9F8A-274702F7E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213" y="1622562"/>
            <a:ext cx="10240299" cy="46220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latin typeface="Segoe UI"/>
                <a:cs typeface="Segoe UI"/>
              </a:rPr>
              <a:t>Target: Standard library n-body (Sun + 4 planets) evaluating gravity kicks</a:t>
            </a:r>
            <a:endParaRPr lang="en-US" dirty="0">
              <a:latin typeface="Aptos" panose="02110004020202020204"/>
              <a:cs typeface="Segoe UI"/>
            </a:endParaRPr>
          </a:p>
          <a:p>
            <a:r>
              <a:rPr lang="en-US" sz="2000" dirty="0">
                <a:latin typeface="Segoe UI"/>
                <a:cs typeface="Segoe UI"/>
              </a:rPr>
              <a:t>Discovered bottlenecks:</a:t>
            </a:r>
          </a:p>
          <a:p>
            <a:pPr lvl="1">
              <a:lnSpc>
                <a:spcPct val="160000"/>
              </a:lnSpc>
              <a:buFont typeface="Courier New" panose="020B0604020202020204" pitchFamily="34" charset="0"/>
              <a:buChar char="o"/>
            </a:pPr>
            <a:r>
              <a:rPr lang="en-US" sz="1600" dirty="0">
                <a:latin typeface="Segoe UI"/>
                <a:cs typeface="Segoe UI"/>
              </a:rPr>
              <a:t>Almost all CPU time is interpreter scaffolding, not gravity</a:t>
            </a:r>
            <a:endParaRPr lang="en-US" sz="1200" dirty="0">
              <a:latin typeface="Segoe UI"/>
              <a:cs typeface="Segoe UI"/>
            </a:endParaRPr>
          </a:p>
          <a:p>
            <a:pPr lvl="2">
              <a:lnSpc>
                <a:spcPct val="160000"/>
              </a:lnSpc>
              <a:buFont typeface="Wingdings" panose="020B0604020202020204" pitchFamily="34" charset="0"/>
              <a:buChar char="§"/>
            </a:pPr>
            <a:r>
              <a:rPr lang="en-US" sz="1400" dirty="0">
                <a:latin typeface="Segoe UI"/>
                <a:cs typeface="Segoe UI"/>
              </a:rPr>
              <a:t>FP ops (</a:t>
            </a:r>
            <a:r>
              <a:rPr lang="en-US" sz="1200" dirty="0">
                <a:latin typeface="Consolas"/>
                <a:cs typeface="Segoe UI"/>
              </a:rPr>
              <a:t>binary_op1, </a:t>
            </a:r>
            <a:r>
              <a:rPr lang="en-US" sz="1200" dirty="0" err="1">
                <a:latin typeface="Consolas"/>
                <a:cs typeface="Segoe UI"/>
              </a:rPr>
              <a:t>float_mul</a:t>
            </a:r>
            <a:r>
              <a:rPr lang="en-US" sz="1200" dirty="0">
                <a:latin typeface="Consolas"/>
                <a:cs typeface="Segoe UI"/>
              </a:rPr>
              <a:t>, </a:t>
            </a:r>
            <a:r>
              <a:rPr lang="en-US" sz="1200" dirty="0" err="1">
                <a:latin typeface="Consolas"/>
                <a:cs typeface="Segoe UI"/>
              </a:rPr>
              <a:t>float_add</a:t>
            </a:r>
            <a:r>
              <a:rPr lang="en-US" sz="1400" dirty="0">
                <a:latin typeface="Segoe UI"/>
                <a:cs typeface="Segoe UI"/>
              </a:rPr>
              <a:t>) are only </a:t>
            </a:r>
            <a:r>
              <a:rPr lang="en-US" sz="1400" dirty="0">
                <a:latin typeface="Consolas"/>
                <a:cs typeface="Segoe UI"/>
              </a:rPr>
              <a:t>~4.6%</a:t>
            </a:r>
            <a:r>
              <a:rPr lang="en-US" sz="1400" dirty="0">
                <a:latin typeface="Segoe UI"/>
                <a:cs typeface="Segoe UI"/>
              </a:rPr>
              <a:t> on runtime</a:t>
            </a:r>
          </a:p>
          <a:p>
            <a:pPr lvl="1">
              <a:lnSpc>
                <a:spcPct val="160000"/>
              </a:lnSpc>
              <a:buFont typeface="Courier New" panose="020B0604020202020204" pitchFamily="34" charset="0"/>
              <a:buChar char="o"/>
            </a:pPr>
            <a:r>
              <a:rPr lang="en-US" sz="1600" dirty="0">
                <a:latin typeface="Segoe UI"/>
                <a:cs typeface="Segoe UI"/>
              </a:rPr>
              <a:t>Bytecode loop</a:t>
            </a:r>
            <a:r>
              <a:rPr lang="en-US" sz="1600" dirty="0">
                <a:latin typeface="Consolas"/>
                <a:cs typeface="Segoe UI"/>
              </a:rPr>
              <a:t> </a:t>
            </a:r>
            <a:r>
              <a:rPr lang="en-US" sz="1400" dirty="0">
                <a:latin typeface="Consolas"/>
                <a:cs typeface="Segoe UI"/>
              </a:rPr>
              <a:t>_</a:t>
            </a:r>
            <a:r>
              <a:rPr lang="en-US" sz="1400" dirty="0" err="1">
                <a:latin typeface="Consolas"/>
                <a:cs typeface="Segoe UI"/>
              </a:rPr>
              <a:t>PyEval_EvalFrameDefault</a:t>
            </a:r>
            <a:r>
              <a:rPr lang="en-US" sz="1600" dirty="0">
                <a:latin typeface="Segoe UI"/>
                <a:cs typeface="Segoe UI"/>
              </a:rPr>
              <a:t> is </a:t>
            </a:r>
            <a:r>
              <a:rPr lang="en-US" sz="1600" dirty="0">
                <a:latin typeface="Consolas"/>
                <a:cs typeface="Segoe UI"/>
              </a:rPr>
              <a:t>24.27%</a:t>
            </a:r>
            <a:r>
              <a:rPr lang="en-US" sz="1600" dirty="0">
                <a:latin typeface="Segoe UI"/>
                <a:cs typeface="Segoe UI"/>
              </a:rPr>
              <a:t>, the single largest symbol</a:t>
            </a:r>
          </a:p>
          <a:p>
            <a:pPr lvl="1">
              <a:lnSpc>
                <a:spcPct val="160000"/>
              </a:lnSpc>
              <a:buFont typeface="Courier New" panose="020B0604020202020204" pitchFamily="34" charset="0"/>
              <a:buChar char="o"/>
            </a:pPr>
            <a:r>
              <a:rPr lang="en-US" sz="1600" dirty="0">
                <a:latin typeface="Segoe UI"/>
                <a:cs typeface="Segoe UI"/>
              </a:rPr>
              <a:t>Every add, multiply, and </a:t>
            </a:r>
            <a:r>
              <a:rPr lang="en-US" sz="1600" dirty="0">
                <a:latin typeface="Consolas"/>
                <a:cs typeface="Segoe UI"/>
              </a:rPr>
              <a:t>r</a:t>
            </a:r>
            <a:r>
              <a:rPr lang="en-US" sz="1600" baseline="30000" dirty="0">
                <a:latin typeface="Consolas"/>
                <a:cs typeface="Segoe UI"/>
              </a:rPr>
              <a:t>-1.5</a:t>
            </a:r>
            <a:r>
              <a:rPr lang="en-US" sz="1600" dirty="0">
                <a:latin typeface="Segoe UI"/>
                <a:cs typeface="Segoe UI"/>
              </a:rPr>
              <a:t> triggers</a:t>
            </a:r>
            <a:endParaRPr lang="en-US" sz="1600" baseline="30000" dirty="0">
              <a:latin typeface="Segoe UI"/>
              <a:cs typeface="Segoe UI"/>
            </a:endParaRPr>
          </a:p>
          <a:p>
            <a:pPr lvl="2">
              <a:lnSpc>
                <a:spcPct val="160000"/>
              </a:lnSpc>
              <a:buFont typeface="Wingdings" panose="020B0604020202020204" pitchFamily="34" charset="0"/>
              <a:buChar char="§"/>
            </a:pPr>
            <a:r>
              <a:rPr lang="en-US" sz="1400" dirty="0">
                <a:latin typeface="Segoe UI"/>
                <a:cs typeface="Segoe UI"/>
              </a:rPr>
              <a:t>Allocation: </a:t>
            </a:r>
            <a:r>
              <a:rPr lang="en-US" sz="1200" dirty="0">
                <a:latin typeface="Consolas"/>
                <a:cs typeface="Segoe UI"/>
              </a:rPr>
              <a:t>_</a:t>
            </a:r>
            <a:r>
              <a:rPr lang="en-US" sz="1200" dirty="0" err="1">
                <a:latin typeface="Consolas"/>
                <a:cs typeface="Segoe UI"/>
              </a:rPr>
              <a:t>PyFloat_FromDouble</a:t>
            </a:r>
            <a:r>
              <a:rPr lang="en-US" sz="1400" dirty="0">
                <a:latin typeface="Segoe UI"/>
                <a:cs typeface="Segoe UI"/>
              </a:rPr>
              <a:t> (</a:t>
            </a:r>
            <a:r>
              <a:rPr lang="en-US" sz="1400" dirty="0">
                <a:latin typeface="Consolas"/>
                <a:cs typeface="Segoe UI"/>
              </a:rPr>
              <a:t>4.62%</a:t>
            </a:r>
            <a:r>
              <a:rPr lang="en-US" sz="1400" dirty="0">
                <a:latin typeface="Segoe UI"/>
                <a:cs typeface="Segoe UI"/>
              </a:rPr>
              <a:t>)</a:t>
            </a:r>
          </a:p>
          <a:p>
            <a:pPr lvl="2">
              <a:lnSpc>
                <a:spcPct val="160000"/>
              </a:lnSpc>
              <a:buFont typeface="Wingdings" panose="020B0604020202020204" pitchFamily="34" charset="0"/>
              <a:buChar char="§"/>
            </a:pPr>
            <a:r>
              <a:rPr lang="en-US" sz="1400" dirty="0">
                <a:latin typeface="Segoe UI"/>
                <a:cs typeface="Segoe UI"/>
              </a:rPr>
              <a:t>Deallocation: </a:t>
            </a:r>
            <a:r>
              <a:rPr lang="en-US" sz="1400" dirty="0">
                <a:latin typeface="Consolas"/>
                <a:cs typeface="Segoe UI"/>
              </a:rPr>
              <a:t>_</a:t>
            </a:r>
            <a:r>
              <a:rPr lang="en-US" sz="1200" dirty="0" err="1">
                <a:latin typeface="Consolas"/>
                <a:cs typeface="Segoe UI"/>
              </a:rPr>
              <a:t>Py_Dealloc</a:t>
            </a:r>
            <a:r>
              <a:rPr lang="en-US" sz="1400" i="1" dirty="0">
                <a:latin typeface="Segoe UI"/>
                <a:cs typeface="Segoe UI"/>
              </a:rPr>
              <a:t> </a:t>
            </a:r>
            <a:r>
              <a:rPr lang="en-US" sz="1400" dirty="0">
                <a:latin typeface="Segoe UI"/>
                <a:cs typeface="Segoe UI"/>
              </a:rPr>
              <a:t>(</a:t>
            </a:r>
            <a:r>
              <a:rPr lang="en-US" sz="1400" dirty="0">
                <a:latin typeface="Consolas"/>
                <a:cs typeface="Segoe UI"/>
              </a:rPr>
              <a:t>2.89%</a:t>
            </a:r>
            <a:r>
              <a:rPr lang="en-US" sz="1400" dirty="0">
                <a:latin typeface="Segoe UI"/>
                <a:cs typeface="Segoe UI"/>
              </a:rPr>
              <a:t>)</a:t>
            </a:r>
          </a:p>
          <a:p>
            <a:pPr lvl="1">
              <a:lnSpc>
                <a:spcPct val="160000"/>
              </a:lnSpc>
              <a:buFont typeface="Courier New" panose="020B0604020202020204" pitchFamily="34" charset="0"/>
              <a:buChar char="o"/>
            </a:pPr>
            <a:r>
              <a:rPr lang="en-US" sz="1600" dirty="0">
                <a:latin typeface="Segoe UI"/>
                <a:cs typeface="Segoe UI"/>
              </a:rPr>
              <a:t>The pair loop keeps positions and velocities in </a:t>
            </a:r>
            <a:r>
              <a:rPr lang="en-US" sz="1400" dirty="0">
                <a:latin typeface="Consolas"/>
                <a:cs typeface="Segoe UI"/>
              </a:rPr>
              <a:t>[x, y, z]</a:t>
            </a:r>
            <a:r>
              <a:rPr lang="en-US" sz="1600" dirty="0">
                <a:latin typeface="Segoe UI"/>
                <a:cs typeface="Segoe UI"/>
              </a:rPr>
              <a:t> lists, so we pay </a:t>
            </a:r>
            <a:r>
              <a:rPr lang="en-US" sz="1400" dirty="0" err="1">
                <a:latin typeface="Consolas"/>
                <a:cs typeface="Segoe UI"/>
              </a:rPr>
              <a:t>list_subscript</a:t>
            </a:r>
            <a:r>
              <a:rPr lang="en-US" sz="1600" dirty="0">
                <a:latin typeface="Segoe UI"/>
                <a:cs typeface="Segoe UI"/>
              </a:rPr>
              <a:t> and </a:t>
            </a:r>
            <a:r>
              <a:rPr lang="en-US" sz="1400" dirty="0" err="1">
                <a:latin typeface="Consolas"/>
                <a:cs typeface="Segoe UI"/>
              </a:rPr>
              <a:t>list_ass_subscript</a:t>
            </a:r>
            <a:r>
              <a:rPr lang="en-US" sz="1600" dirty="0">
                <a:latin typeface="Segoe UI"/>
                <a:cs typeface="Segoe UI"/>
              </a:rPr>
              <a:t> on every kick</a:t>
            </a:r>
          </a:p>
          <a:p>
            <a:pPr lvl="2">
              <a:buFont typeface="Wingdings" panose="020B0604020202020204" pitchFamily="34" charset="0"/>
              <a:buChar char="§"/>
            </a:pPr>
            <a:endParaRPr lang="en-US" sz="1400" dirty="0">
              <a:latin typeface="Segoe UI"/>
              <a:cs typeface="Segoe UI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5B2091A-37E2-DE84-0D37-50D749E4CADF}"/>
              </a:ext>
            </a:extLst>
          </p:cNvPr>
          <p:cNvCxnSpPr/>
          <p:nvPr/>
        </p:nvCxnSpPr>
        <p:spPr>
          <a:xfrm flipV="1">
            <a:off x="842210" y="1262952"/>
            <a:ext cx="10248947" cy="17516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136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C00C1-8AC5-9B58-D722-7FE401E7E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FE7E6-64D4-3A3F-A272-C1E7812B0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3250"/>
          </a:xfr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dirty="0">
                <a:solidFill>
                  <a:srgbClr val="0A2F41"/>
                </a:solidFill>
                <a:latin typeface="Segoe UI"/>
                <a:cs typeface="Segoe UI"/>
              </a:rPr>
              <a:t>SW Optimizations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7C375-7690-7258-9788-B2E27E296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213" y="1622562"/>
            <a:ext cx="10240299" cy="46220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latin typeface="Segoe UI"/>
                <a:cs typeface="Segoe UI"/>
              </a:rPr>
              <a:t>Initial attempts</a:t>
            </a:r>
            <a:endParaRPr lang="en-US" dirty="0">
              <a:latin typeface="Aptos" panose="02110004020202020204"/>
              <a:cs typeface="Segoe U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>
                <a:latin typeface="Segoe UI"/>
                <a:cs typeface="Segoe UI"/>
              </a:rPr>
              <a:t>Transform body data arrays to </a:t>
            </a:r>
            <a:r>
              <a:rPr lang="en-US" sz="1600" dirty="0" err="1">
                <a:latin typeface="Segoe UI"/>
                <a:cs typeface="Segoe UI"/>
              </a:rPr>
              <a:t>SoA</a:t>
            </a:r>
            <a:r>
              <a:rPr lang="en-US" sz="1600" dirty="0">
                <a:latin typeface="Segoe UI"/>
                <a:cs typeface="Segoe UI"/>
              </a:rPr>
              <a:t> form to improve memory layout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>
                <a:latin typeface="Segoe UI"/>
                <a:cs typeface="Segoe UI"/>
              </a:rPr>
              <a:t>Compute ^(-1.5) with </a:t>
            </a:r>
            <a:r>
              <a:rPr lang="en-US" sz="1400" dirty="0" err="1">
                <a:latin typeface="Consolas"/>
                <a:cs typeface="Segoe UI"/>
              </a:rPr>
              <a:t>math.sqrt</a:t>
            </a:r>
            <a:endParaRPr lang="en-US" sz="1400">
              <a:latin typeface="Consolas"/>
              <a:cs typeface="Segoe UI"/>
            </a:endParaRPr>
          </a:p>
          <a:p>
            <a:r>
              <a:rPr lang="en-US" sz="2000" dirty="0">
                <a:latin typeface="Segoe UI"/>
                <a:cs typeface="Segoe UI"/>
              </a:rPr>
              <a:t>Initial results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>
                <a:latin typeface="Segoe UI"/>
                <a:cs typeface="Segoe UI"/>
              </a:rPr>
              <a:t>~3% improvement in runtime</a:t>
            </a:r>
          </a:p>
          <a:p>
            <a:r>
              <a:rPr lang="en-US" sz="2000" dirty="0">
                <a:latin typeface="Segoe UI"/>
                <a:cs typeface="Segoe UI"/>
              </a:rPr>
              <a:t>Takeaway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>
                <a:latin typeface="Segoe UI"/>
                <a:cs typeface="Segoe UI"/>
              </a:rPr>
              <a:t>Not a Caching / FLOP issue – only 5 bodies and 3 coordinates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 err="1">
                <a:latin typeface="Segoe UI"/>
                <a:cs typeface="Segoe UI"/>
              </a:rPr>
              <a:t>CPython</a:t>
            </a:r>
            <a:r>
              <a:rPr lang="en-US" sz="1600" dirty="0">
                <a:latin typeface="Segoe UI"/>
                <a:cs typeface="Segoe UI"/>
              </a:rPr>
              <a:t> bytecode is the main culprit – float allocation and list indexing</a:t>
            </a:r>
          </a:p>
          <a:p>
            <a:endParaRPr lang="en-US" sz="2000" dirty="0">
              <a:latin typeface="Segoe UI"/>
              <a:cs typeface="Segoe UI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4B8B071-F458-7094-2703-1745A417DDF0}"/>
              </a:ext>
            </a:extLst>
          </p:cNvPr>
          <p:cNvCxnSpPr/>
          <p:nvPr/>
        </p:nvCxnSpPr>
        <p:spPr>
          <a:xfrm flipV="1">
            <a:off x="842210" y="1262952"/>
            <a:ext cx="10248947" cy="17516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9F1B6B3-27F2-9CEA-D123-C396E1987D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600" b="-400"/>
          <a:stretch>
            <a:fillRect/>
          </a:stretch>
        </p:blipFill>
        <p:spPr>
          <a:xfrm>
            <a:off x="842210" y="4953404"/>
            <a:ext cx="10246895" cy="1901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890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59040-BB1A-7116-1CF8-EA6046733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E16FA-B6B2-1BD3-D640-510835184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3250"/>
          </a:xfr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dirty="0">
                <a:solidFill>
                  <a:srgbClr val="0A2F41"/>
                </a:solidFill>
                <a:latin typeface="Segoe UI"/>
                <a:cs typeface="Segoe UI"/>
              </a:rPr>
              <a:t>SW Optimizations (Cont.)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3F298-EBE3-B7B4-D51A-60BAB0564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213" y="1622562"/>
            <a:ext cx="10240299" cy="46220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latin typeface="Segoe UI"/>
                <a:cs typeface="Segoe UI"/>
              </a:rPr>
              <a:t>What worked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 err="1">
                <a:latin typeface="Segoe UI"/>
                <a:cs typeface="Segoe UI"/>
              </a:rPr>
              <a:t>Destructure</a:t>
            </a:r>
            <a:r>
              <a:rPr lang="en-US" sz="1600" dirty="0">
                <a:latin typeface="Segoe UI"/>
                <a:cs typeface="Segoe UI"/>
              </a:rPr>
              <a:t> the 10 pairs into local variables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>
                <a:latin typeface="Segoe UI"/>
                <a:cs typeface="Segoe UI"/>
              </a:rPr>
              <a:t>Keep them local throughout advance()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>
                <a:latin typeface="Segoe UI"/>
                <a:cs typeface="Segoe UI"/>
              </a:rPr>
              <a:t>Same physics, cheaper magnitude computation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200" dirty="0">
                <a:latin typeface="Consolas"/>
                <a:cs typeface="Segoe UI"/>
              </a:rPr>
              <a:t>1 / (r * </a:t>
            </a:r>
            <a:r>
              <a:rPr lang="en-US" sz="1200" dirty="0" err="1">
                <a:latin typeface="Consolas"/>
                <a:cs typeface="Segoe UI"/>
              </a:rPr>
              <a:t>math.sqrt</a:t>
            </a:r>
            <a:r>
              <a:rPr lang="en-US" sz="1200" dirty="0">
                <a:latin typeface="Consolas"/>
                <a:cs typeface="Segoe UI"/>
              </a:rPr>
              <a:t>(r))</a:t>
            </a:r>
            <a:r>
              <a:rPr lang="en-US" sz="1400" dirty="0">
                <a:latin typeface="Consolas"/>
                <a:cs typeface="Segoe UI"/>
              </a:rPr>
              <a:t> </a:t>
            </a:r>
            <a:r>
              <a:rPr lang="en-US" sz="1400" dirty="0">
                <a:latin typeface="Segoe UI"/>
                <a:cs typeface="Segoe UI"/>
              </a:rPr>
              <a:t>instead of</a:t>
            </a:r>
            <a:r>
              <a:rPr lang="en-US" sz="1400" dirty="0">
                <a:latin typeface="Consolas"/>
                <a:cs typeface="Segoe UI"/>
              </a:rPr>
              <a:t> </a:t>
            </a:r>
            <a:r>
              <a:rPr lang="en-US" sz="1200" dirty="0">
                <a:latin typeface="Consolas"/>
                <a:cs typeface="Segoe UI"/>
              </a:rPr>
              <a:t>r ** (-1.5)</a:t>
            </a:r>
          </a:p>
          <a:p>
            <a:endParaRPr lang="en-US" sz="2000" dirty="0">
              <a:latin typeface="Segoe UI"/>
              <a:cs typeface="Segoe UI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EAECF87-8EA0-9D06-B37F-E048278824E4}"/>
              </a:ext>
            </a:extLst>
          </p:cNvPr>
          <p:cNvCxnSpPr/>
          <p:nvPr/>
        </p:nvCxnSpPr>
        <p:spPr>
          <a:xfrm flipV="1">
            <a:off x="842210" y="1262952"/>
            <a:ext cx="10248947" cy="17516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25771D5F-796A-6660-D0A9-9AC389265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169" y="3164876"/>
            <a:ext cx="4388387" cy="1730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0285AC-65A6-099D-8F6B-F9E73B0EB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27" y="3165231"/>
            <a:ext cx="5370723" cy="1537418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3EB51A84-7ECA-F30E-60DB-C671D2B7C1D0}"/>
              </a:ext>
            </a:extLst>
          </p:cNvPr>
          <p:cNvSpPr/>
          <p:nvPr/>
        </p:nvSpPr>
        <p:spPr>
          <a:xfrm>
            <a:off x="6218852" y="3832469"/>
            <a:ext cx="751973" cy="2005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9E35ED-B60E-67F8-2EF9-6C4D03410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445" y="5248021"/>
            <a:ext cx="10511928" cy="161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610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B8D48-83FB-E75B-2FD3-877032475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7F134-E991-3051-BF1A-B092C491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3250"/>
          </a:xfr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dirty="0">
                <a:solidFill>
                  <a:srgbClr val="0A2F41"/>
                </a:solidFill>
                <a:latin typeface="Segoe UI"/>
                <a:cs typeface="Segoe UI"/>
              </a:rPr>
              <a:t>SW Optimization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C6912-659D-1639-B511-4CF946A12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213" y="1622562"/>
            <a:ext cx="10240299" cy="46220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latin typeface="Segoe UI"/>
                <a:cs typeface="Segoe UI"/>
              </a:rPr>
              <a:t>Speedup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>
                <a:latin typeface="Consolas"/>
                <a:cs typeface="Segoe UI"/>
              </a:rPr>
              <a:t>1.49x</a:t>
            </a:r>
            <a:r>
              <a:rPr lang="en-US" sz="1600" dirty="0">
                <a:latin typeface="Segoe UI"/>
                <a:cs typeface="Segoe UI"/>
              </a:rPr>
              <a:t> faster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i="1" dirty="0" err="1">
                <a:latin typeface="Segoe UI"/>
                <a:cs typeface="Segoe UI"/>
              </a:rPr>
              <a:t>pyperf</a:t>
            </a:r>
            <a:r>
              <a:rPr lang="en-US" sz="1600" dirty="0">
                <a:latin typeface="Segoe UI"/>
                <a:cs typeface="Segoe UI"/>
              </a:rPr>
              <a:t> mean runtime</a:t>
            </a:r>
            <a:r>
              <a:rPr lang="en-US" sz="1600" dirty="0">
                <a:latin typeface="Consolas"/>
                <a:cs typeface="Segoe UI"/>
              </a:rPr>
              <a:t>: 3.71s —&gt; 2.49s</a:t>
            </a:r>
            <a:r>
              <a:rPr lang="en-US" sz="1600" dirty="0">
                <a:latin typeface="Segoe UI"/>
                <a:cs typeface="Segoe UI"/>
              </a:rPr>
              <a:t> </a:t>
            </a:r>
            <a:endParaRPr lang="en-US" dirty="0">
              <a:latin typeface="Aptos"/>
              <a:cs typeface="Segoe U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>
                <a:latin typeface="Segoe UI"/>
                <a:cs typeface="Segoe UI"/>
              </a:rPr>
              <a:t>Std. Dev. mean</a:t>
            </a:r>
            <a:r>
              <a:rPr lang="en-US" sz="1600" dirty="0">
                <a:latin typeface="Consolas"/>
                <a:cs typeface="Segoe UI"/>
              </a:rPr>
              <a:t>: 0.22s —&gt; 0.01s</a:t>
            </a:r>
            <a:endParaRPr lang="en-US" sz="1600" dirty="0">
              <a:latin typeface="Segoe UI"/>
              <a:cs typeface="Segoe UI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400" dirty="0">
                <a:latin typeface="Segoe UI"/>
                <a:cs typeface="Segoe UI"/>
              </a:rPr>
              <a:t>More stable without frequent float allocations and list manipulations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dirty="0">
                <a:latin typeface="Consolas"/>
                <a:cs typeface="Segoe UI"/>
              </a:rPr>
              <a:t>ΔE </a:t>
            </a:r>
            <a:r>
              <a:rPr lang="en-US" sz="1800" dirty="0">
                <a:latin typeface="Consolas"/>
                <a:ea typeface="+mn-lt"/>
                <a:cs typeface="Segoe UI"/>
              </a:rPr>
              <a:t>≈ 1e-16</a:t>
            </a:r>
            <a:endParaRPr lang="en-US" sz="1800">
              <a:latin typeface="Consolas"/>
              <a:cs typeface="Segoe UI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400" dirty="0">
                <a:latin typeface="Segoe UI"/>
                <a:cs typeface="Segoe UI"/>
              </a:rPr>
              <a:t>Acceptable for speedup gain</a:t>
            </a:r>
          </a:p>
          <a:p>
            <a:r>
              <a:rPr lang="en-US" sz="2200" dirty="0">
                <a:latin typeface="Segoe UI"/>
                <a:cs typeface="Segoe UI"/>
              </a:rPr>
              <a:t>Results summary</a:t>
            </a:r>
          </a:p>
          <a:p>
            <a:pPr marL="914400" lvl="2" indent="0">
              <a:buNone/>
            </a:pPr>
            <a:endParaRPr lang="en-US" sz="14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4227B20-62B5-6AC4-F119-27658D8F27DD}"/>
              </a:ext>
            </a:extLst>
          </p:cNvPr>
          <p:cNvCxnSpPr/>
          <p:nvPr/>
        </p:nvCxnSpPr>
        <p:spPr>
          <a:xfrm flipV="1">
            <a:off x="842210" y="1262952"/>
            <a:ext cx="10248947" cy="17516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E23C760-2BC6-6C1E-19CF-2CDF68ABF3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431209"/>
              </p:ext>
            </p:extLst>
          </p:nvPr>
        </p:nvGraphicFramePr>
        <p:xfrm>
          <a:off x="1355057" y="4223836"/>
          <a:ext cx="9201150" cy="2200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050">
                  <a:extLst>
                    <a:ext uri="{9D8B030D-6E8A-4147-A177-3AD203B41FA5}">
                      <a16:colId xmlns:a16="http://schemas.microsoft.com/office/drawing/2014/main" val="3018014493"/>
                    </a:ext>
                  </a:extLst>
                </a:gridCol>
                <a:gridCol w="3067050">
                  <a:extLst>
                    <a:ext uri="{9D8B030D-6E8A-4147-A177-3AD203B41FA5}">
                      <a16:colId xmlns:a16="http://schemas.microsoft.com/office/drawing/2014/main" val="892045359"/>
                    </a:ext>
                  </a:extLst>
                </a:gridCol>
                <a:gridCol w="3067050">
                  <a:extLst>
                    <a:ext uri="{9D8B030D-6E8A-4147-A177-3AD203B41FA5}">
                      <a16:colId xmlns:a16="http://schemas.microsoft.com/office/drawing/2014/main" val="87292216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600" b="1" i="0" dirty="0">
                          <a:solidFill>
                            <a:srgbClr val="FFFFFF"/>
                          </a:solidFill>
                          <a:effectLst/>
                          <a:latin typeface="Segoe UI"/>
                          <a:cs typeface="Segoe UI"/>
                        </a:rPr>
                        <a:t>Symbol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600" b="1" i="0" dirty="0">
                          <a:solidFill>
                            <a:srgbClr val="FFFFFF"/>
                          </a:solidFill>
                          <a:effectLst/>
                          <a:latin typeface="Segoe UI"/>
                          <a:cs typeface="Segoe UI"/>
                        </a:rPr>
                        <a:t>Benchmark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600" b="1" i="0" dirty="0">
                          <a:solidFill>
                            <a:srgbClr val="FFFFFF"/>
                          </a:solidFill>
                          <a:effectLst/>
                          <a:latin typeface="Segoe UI"/>
                          <a:cs typeface="Segoe UI"/>
                        </a:rPr>
                        <a:t>Optimized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8816845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  <a:cs typeface="Segoe UI"/>
                        </a:rPr>
                        <a:t>_</a:t>
                      </a:r>
                      <a:r>
                        <a:rPr lang="en-US" sz="1600" b="0" i="0" dirty="0" err="1">
                          <a:solidFill>
                            <a:srgbClr val="000000"/>
                          </a:solidFill>
                          <a:effectLst/>
                          <a:latin typeface="Consolas"/>
                          <a:cs typeface="Segoe UI"/>
                        </a:rPr>
                        <a:t>PyEval_EvalFrameDefault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  <a:latin typeface="Consolas"/>
                        <a:cs typeface="Segoe U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  <a:cs typeface="Segoe UI"/>
                        </a:rPr>
                        <a:t>24.27% </a:t>
                      </a:r>
                    </a:p>
                  </a:txBody>
                  <a:tcPr marL="95250" marR="952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  <a:cs typeface="Segoe UI"/>
                        </a:rPr>
                        <a:t>19.77%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904048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600" b="0" i="0" dirty="0" err="1">
                          <a:solidFill>
                            <a:srgbClr val="000000"/>
                          </a:solidFill>
                          <a:effectLst/>
                          <a:latin typeface="Consolas"/>
                          <a:cs typeface="Segoe UI"/>
                        </a:rPr>
                        <a:t>list_subscript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  <a:latin typeface="Consolas"/>
                        <a:cs typeface="Segoe U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  <a:cs typeface="Segoe UI"/>
                        </a:rPr>
                        <a:t>1.57%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  <a:cs typeface="Segoe UI"/>
                        </a:rPr>
                        <a:t>0.01%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1046247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600" b="0" i="0" dirty="0" err="1">
                          <a:solidFill>
                            <a:srgbClr val="000000"/>
                          </a:solidFill>
                          <a:effectLst/>
                          <a:latin typeface="Consolas"/>
                          <a:cs typeface="Segoe UI"/>
                        </a:rPr>
                        <a:t>list_ass_subscript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  <a:latin typeface="Consolas"/>
                        <a:cs typeface="Segoe U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  <a:cs typeface="Segoe UI"/>
                        </a:rPr>
                        <a:t>1.31%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  <a:cs typeface="Segoe UI"/>
                        </a:rPr>
                        <a:t>0.01%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760876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600" b="0" i="0" dirty="0" err="1">
                          <a:solidFill>
                            <a:srgbClr val="000000"/>
                          </a:solidFill>
                          <a:effectLst/>
                          <a:latin typeface="Consolas"/>
                          <a:cs typeface="Segoe UI"/>
                        </a:rPr>
                        <a:t>list_ass_item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  <a:latin typeface="Consolas"/>
                        <a:cs typeface="Segoe U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  <a:cs typeface="Segoe UI"/>
                        </a:rPr>
                        <a:t>0.74%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  <a:cs typeface="Segoe UI"/>
                        </a:rPr>
                        <a:t>~0%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769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0788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7454A-32E8-1CFA-8FD4-54B1648F8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4CB58-99D0-EBD6-9B86-2122F210A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3250"/>
          </a:xfr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dirty="0">
                <a:solidFill>
                  <a:srgbClr val="0A2F41"/>
                </a:solidFill>
                <a:latin typeface="Segoe UI"/>
                <a:cs typeface="Segoe UI"/>
              </a:rPr>
              <a:t>HW Acceleration -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A0833-CFE1-7364-F848-BA6FDAF86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213" y="1622562"/>
            <a:ext cx="10240299" cy="46220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latin typeface="Segoe UI"/>
                <a:cs typeface="Segoe UI"/>
              </a:rPr>
              <a:t>This calculation is basically sqrt + FMA</a:t>
            </a:r>
            <a:endParaRPr lang="en-US" dirty="0"/>
          </a:p>
          <a:p>
            <a:r>
              <a:rPr lang="en-US" sz="2200" dirty="0">
                <a:latin typeface="Segoe UI"/>
                <a:cs typeface="Segoe UI"/>
              </a:rPr>
              <a:t>General FP ops that are applicable in simulations and engines, not only n-body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387F507-5F5C-B327-0382-702672E4061E}"/>
              </a:ext>
            </a:extLst>
          </p:cNvPr>
          <p:cNvCxnSpPr/>
          <p:nvPr/>
        </p:nvCxnSpPr>
        <p:spPr>
          <a:xfrm flipV="1">
            <a:off x="842210" y="1262952"/>
            <a:ext cx="10248947" cy="17516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53D40F25-34B1-05BE-113A-C2E0B3FA6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9408" y="2656973"/>
            <a:ext cx="5382476" cy="3749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732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6B026-B08A-3E22-42D8-2222968E9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A7412-30B7-6C93-7B4B-5DF16C83F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3250"/>
          </a:xfr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dirty="0">
                <a:solidFill>
                  <a:srgbClr val="0A2F41"/>
                </a:solidFill>
                <a:latin typeface="Segoe UI"/>
                <a:cs typeface="Segoe UI"/>
              </a:rPr>
              <a:t>HW Acceleration – Proposed Architecture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503B62C-C70E-7B08-F1D5-5C8013B585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-78"/>
          <a:stretch>
            <a:fillRect/>
          </a:stretch>
        </p:blipFill>
        <p:spPr>
          <a:xfrm>
            <a:off x="834213" y="2012499"/>
            <a:ext cx="10248255" cy="3842173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DDFB80A-45C2-F358-7F40-4842044812BA}"/>
              </a:ext>
            </a:extLst>
          </p:cNvPr>
          <p:cNvCxnSpPr/>
          <p:nvPr/>
        </p:nvCxnSpPr>
        <p:spPr>
          <a:xfrm flipV="1">
            <a:off x="842210" y="1262952"/>
            <a:ext cx="10248947" cy="17516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767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C77B5-3730-59FC-25C1-21599E693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CD875-BC2A-8DAE-E421-7D3B7E39B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23679"/>
            <a:ext cx="9144000" cy="2387600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Segoe UI"/>
                <a:cs typeface="Segoe UI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2751012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672</Words>
  <Application>Microsoft Office PowerPoint</Application>
  <PresentationFormat>Widescreen</PresentationFormat>
  <Paragraphs>156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Aptos Display</vt:lpstr>
      <vt:lpstr>Arial</vt:lpstr>
      <vt:lpstr>Consolas</vt:lpstr>
      <vt:lpstr>Courier New</vt:lpstr>
      <vt:lpstr>Segoe UI</vt:lpstr>
      <vt:lpstr>Wingdings</vt:lpstr>
      <vt:lpstr>Office Theme</vt:lpstr>
      <vt:lpstr>BENCHMARK OPTIMIZATION, ANALYSIS, AND HARDWARE ACCELERATION</vt:lpstr>
      <vt:lpstr>Profiling &amp; Diagnostic Methodology</vt:lpstr>
      <vt:lpstr>BENCHMARK #1 - RAYTRACE</vt:lpstr>
      <vt:lpstr>Overview</vt:lpstr>
      <vt:lpstr>Refactoring Strategy &amp; SW Optimizations</vt:lpstr>
      <vt:lpstr>Refactoring Strategy &amp; SW Optimizations (Cont.)</vt:lpstr>
      <vt:lpstr>Refactoring Strategy &amp; SW Optimizations (Cont.)</vt:lpstr>
      <vt:lpstr>Optimization Results</vt:lpstr>
      <vt:lpstr>Optimization Results (Cont.)</vt:lpstr>
      <vt:lpstr>Optimization Results (Cont.)</vt:lpstr>
      <vt:lpstr>BENCHMARK #2 - NBODY</vt:lpstr>
      <vt:lpstr>Overview</vt:lpstr>
      <vt:lpstr>SW Optimizations</vt:lpstr>
      <vt:lpstr>SW Optimizations (Cont.)</vt:lpstr>
      <vt:lpstr>SW Optimization Results</vt:lpstr>
      <vt:lpstr>HW Acceleration - Motivation</vt:lpstr>
      <vt:lpstr>HW Acceleration – Proposed Architecture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Lavie Lederman</dc:creator>
  <cp:lastModifiedBy>Lavie Lederman</cp:lastModifiedBy>
  <cp:revision>1219</cp:revision>
  <dcterms:created xsi:type="dcterms:W3CDTF">2026-09-18T11:12:43Z</dcterms:created>
  <dcterms:modified xsi:type="dcterms:W3CDTF">2026-09-21T13:21:06Z</dcterms:modified>
</cp:coreProperties>
</file>